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96D66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—</a:t>
            </a:r>
            <a:r>
              <a:rPr dirty="0" spc="-50"/>
              <a:t> </a:t>
            </a: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 spc="-50"/>
              <a:t>—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96D66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—</a:t>
            </a:r>
            <a:r>
              <a:rPr dirty="0" spc="-50"/>
              <a:t> </a:t>
            </a: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 spc="-50"/>
              <a:t>—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96D66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—</a:t>
            </a:r>
            <a:r>
              <a:rPr dirty="0" spc="-50"/>
              <a:t> </a:t>
            </a: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 spc="-50"/>
              <a:t>—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96D66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—</a:t>
            </a:r>
            <a:r>
              <a:rPr dirty="0" spc="-50"/>
              <a:t> </a:t>
            </a: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 spc="-50"/>
              <a:t>—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96D66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—</a:t>
            </a:r>
            <a:r>
              <a:rPr dirty="0" spc="-50"/>
              <a:t> </a:t>
            </a: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 spc="-50"/>
              <a:t>—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90525" y="390525"/>
            <a:ext cx="6778625" cy="9910445"/>
          </a:xfrm>
          <a:custGeom>
            <a:avLst/>
            <a:gdLst/>
            <a:ahLst/>
            <a:cxnLst/>
            <a:rect l="l" t="t" r="r" b="b"/>
            <a:pathLst>
              <a:path w="6778625" h="9910445">
                <a:moveTo>
                  <a:pt x="6773075" y="9910165"/>
                </a:moveTo>
                <a:lnTo>
                  <a:pt x="5079" y="9910165"/>
                </a:lnTo>
                <a:lnTo>
                  <a:pt x="3505" y="9909911"/>
                </a:lnTo>
                <a:lnTo>
                  <a:pt x="2095" y="9909187"/>
                </a:lnTo>
                <a:lnTo>
                  <a:pt x="965" y="9908070"/>
                </a:lnTo>
                <a:lnTo>
                  <a:pt x="253" y="9906647"/>
                </a:lnTo>
                <a:lnTo>
                  <a:pt x="0" y="9905072"/>
                </a:lnTo>
                <a:lnTo>
                  <a:pt x="0" y="5079"/>
                </a:lnTo>
                <a:lnTo>
                  <a:pt x="5079" y="0"/>
                </a:lnTo>
                <a:lnTo>
                  <a:pt x="6773075" y="0"/>
                </a:lnTo>
                <a:lnTo>
                  <a:pt x="6778155" y="5079"/>
                </a:lnTo>
                <a:lnTo>
                  <a:pt x="10160" y="5079"/>
                </a:lnTo>
                <a:lnTo>
                  <a:pt x="5080" y="10159"/>
                </a:lnTo>
                <a:lnTo>
                  <a:pt x="10160" y="10159"/>
                </a:lnTo>
                <a:lnTo>
                  <a:pt x="10160" y="9899992"/>
                </a:lnTo>
                <a:lnTo>
                  <a:pt x="5079" y="9899992"/>
                </a:lnTo>
                <a:lnTo>
                  <a:pt x="10160" y="9905072"/>
                </a:lnTo>
                <a:lnTo>
                  <a:pt x="6778155" y="9905072"/>
                </a:lnTo>
                <a:lnTo>
                  <a:pt x="6777913" y="9906647"/>
                </a:lnTo>
                <a:lnTo>
                  <a:pt x="6777189" y="9908070"/>
                </a:lnTo>
                <a:lnTo>
                  <a:pt x="6776059" y="9909187"/>
                </a:lnTo>
                <a:lnTo>
                  <a:pt x="6774649" y="9909911"/>
                </a:lnTo>
                <a:lnTo>
                  <a:pt x="6773075" y="9910165"/>
                </a:lnTo>
                <a:close/>
              </a:path>
              <a:path w="6778625" h="9910445">
                <a:moveTo>
                  <a:pt x="10160" y="10159"/>
                </a:moveTo>
                <a:lnTo>
                  <a:pt x="5080" y="10159"/>
                </a:lnTo>
                <a:lnTo>
                  <a:pt x="10160" y="5079"/>
                </a:lnTo>
                <a:lnTo>
                  <a:pt x="10160" y="10159"/>
                </a:lnTo>
                <a:close/>
              </a:path>
              <a:path w="6778625" h="9910445">
                <a:moveTo>
                  <a:pt x="6767995" y="10159"/>
                </a:moveTo>
                <a:lnTo>
                  <a:pt x="10160" y="10159"/>
                </a:lnTo>
                <a:lnTo>
                  <a:pt x="10160" y="5079"/>
                </a:lnTo>
                <a:lnTo>
                  <a:pt x="6767995" y="5079"/>
                </a:lnTo>
                <a:lnTo>
                  <a:pt x="6767995" y="10159"/>
                </a:lnTo>
                <a:close/>
              </a:path>
              <a:path w="6778625" h="9910445">
                <a:moveTo>
                  <a:pt x="6767995" y="9905072"/>
                </a:moveTo>
                <a:lnTo>
                  <a:pt x="6767995" y="5079"/>
                </a:lnTo>
                <a:lnTo>
                  <a:pt x="6773075" y="10159"/>
                </a:lnTo>
                <a:lnTo>
                  <a:pt x="6778155" y="10159"/>
                </a:lnTo>
                <a:lnTo>
                  <a:pt x="6778155" y="9899992"/>
                </a:lnTo>
                <a:lnTo>
                  <a:pt x="6773075" y="9899992"/>
                </a:lnTo>
                <a:lnTo>
                  <a:pt x="6767995" y="9905072"/>
                </a:lnTo>
                <a:close/>
              </a:path>
              <a:path w="6778625" h="9910445">
                <a:moveTo>
                  <a:pt x="6778155" y="10159"/>
                </a:moveTo>
                <a:lnTo>
                  <a:pt x="6773075" y="10159"/>
                </a:lnTo>
                <a:lnTo>
                  <a:pt x="6767995" y="5079"/>
                </a:lnTo>
                <a:lnTo>
                  <a:pt x="6778155" y="5079"/>
                </a:lnTo>
                <a:lnTo>
                  <a:pt x="6778155" y="10159"/>
                </a:lnTo>
                <a:close/>
              </a:path>
              <a:path w="6778625" h="9910445">
                <a:moveTo>
                  <a:pt x="10160" y="9905072"/>
                </a:moveTo>
                <a:lnTo>
                  <a:pt x="5079" y="9899992"/>
                </a:lnTo>
                <a:lnTo>
                  <a:pt x="10160" y="9899992"/>
                </a:lnTo>
                <a:lnTo>
                  <a:pt x="10160" y="9905072"/>
                </a:lnTo>
                <a:close/>
              </a:path>
              <a:path w="6778625" h="9910445">
                <a:moveTo>
                  <a:pt x="6767995" y="9905072"/>
                </a:moveTo>
                <a:lnTo>
                  <a:pt x="10160" y="9905072"/>
                </a:lnTo>
                <a:lnTo>
                  <a:pt x="10160" y="9899992"/>
                </a:lnTo>
                <a:lnTo>
                  <a:pt x="6767995" y="9899992"/>
                </a:lnTo>
                <a:lnTo>
                  <a:pt x="6767995" y="9905072"/>
                </a:lnTo>
                <a:close/>
              </a:path>
              <a:path w="6778625" h="9910445">
                <a:moveTo>
                  <a:pt x="6778155" y="9905072"/>
                </a:moveTo>
                <a:lnTo>
                  <a:pt x="6767995" y="9905072"/>
                </a:lnTo>
                <a:lnTo>
                  <a:pt x="6773075" y="9899992"/>
                </a:lnTo>
                <a:lnTo>
                  <a:pt x="6778155" y="9899992"/>
                </a:lnTo>
                <a:lnTo>
                  <a:pt x="6778155" y="9905072"/>
                </a:lnTo>
                <a:close/>
              </a:path>
            </a:pathLst>
          </a:custGeom>
          <a:solidFill>
            <a:srgbClr val="A88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35000" y="435000"/>
            <a:ext cx="6689725" cy="9821545"/>
          </a:xfrm>
          <a:custGeom>
            <a:avLst/>
            <a:gdLst/>
            <a:ahLst/>
            <a:cxnLst/>
            <a:rect l="l" t="t" r="r" b="b"/>
            <a:pathLst>
              <a:path w="6689725" h="9821545">
                <a:moveTo>
                  <a:pt x="6685407" y="9821214"/>
                </a:moveTo>
                <a:lnTo>
                  <a:pt x="3809" y="9821214"/>
                </a:lnTo>
                <a:lnTo>
                  <a:pt x="2349" y="9820922"/>
                </a:lnTo>
                <a:lnTo>
                  <a:pt x="1104" y="9820097"/>
                </a:lnTo>
                <a:lnTo>
                  <a:pt x="279" y="9818865"/>
                </a:lnTo>
                <a:lnTo>
                  <a:pt x="0" y="9817404"/>
                </a:lnTo>
                <a:lnTo>
                  <a:pt x="0" y="3810"/>
                </a:lnTo>
                <a:lnTo>
                  <a:pt x="279" y="2349"/>
                </a:lnTo>
                <a:lnTo>
                  <a:pt x="1104" y="1104"/>
                </a:lnTo>
                <a:lnTo>
                  <a:pt x="2349" y="279"/>
                </a:lnTo>
                <a:lnTo>
                  <a:pt x="3809" y="0"/>
                </a:lnTo>
                <a:lnTo>
                  <a:pt x="6685407" y="0"/>
                </a:lnTo>
                <a:lnTo>
                  <a:pt x="6686854" y="279"/>
                </a:lnTo>
                <a:lnTo>
                  <a:pt x="6688099" y="1104"/>
                </a:lnTo>
                <a:lnTo>
                  <a:pt x="6688924" y="2349"/>
                </a:lnTo>
                <a:lnTo>
                  <a:pt x="6689217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9813594"/>
                </a:lnTo>
                <a:lnTo>
                  <a:pt x="3809" y="9813594"/>
                </a:lnTo>
                <a:lnTo>
                  <a:pt x="7619" y="9817404"/>
                </a:lnTo>
                <a:lnTo>
                  <a:pt x="6689217" y="9817404"/>
                </a:lnTo>
                <a:lnTo>
                  <a:pt x="6688924" y="9818865"/>
                </a:lnTo>
                <a:lnTo>
                  <a:pt x="6688099" y="9820097"/>
                </a:lnTo>
                <a:lnTo>
                  <a:pt x="6686854" y="9820922"/>
                </a:lnTo>
                <a:lnTo>
                  <a:pt x="6685407" y="9821214"/>
                </a:lnTo>
                <a:close/>
              </a:path>
              <a:path w="6689725" h="9821545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6689725" h="9821545">
                <a:moveTo>
                  <a:pt x="6681597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6681597" y="3810"/>
                </a:lnTo>
                <a:lnTo>
                  <a:pt x="6681597" y="7620"/>
                </a:lnTo>
                <a:close/>
              </a:path>
              <a:path w="6689725" h="9821545">
                <a:moveTo>
                  <a:pt x="6681597" y="9817404"/>
                </a:moveTo>
                <a:lnTo>
                  <a:pt x="6681597" y="3810"/>
                </a:lnTo>
                <a:lnTo>
                  <a:pt x="6685407" y="7620"/>
                </a:lnTo>
                <a:lnTo>
                  <a:pt x="6689217" y="7620"/>
                </a:lnTo>
                <a:lnTo>
                  <a:pt x="6689217" y="9813594"/>
                </a:lnTo>
                <a:lnTo>
                  <a:pt x="6685407" y="9813594"/>
                </a:lnTo>
                <a:lnTo>
                  <a:pt x="6681597" y="9817404"/>
                </a:lnTo>
                <a:close/>
              </a:path>
              <a:path w="6689725" h="9821545">
                <a:moveTo>
                  <a:pt x="6689217" y="7620"/>
                </a:moveTo>
                <a:lnTo>
                  <a:pt x="6685407" y="7620"/>
                </a:lnTo>
                <a:lnTo>
                  <a:pt x="6681597" y="3810"/>
                </a:lnTo>
                <a:lnTo>
                  <a:pt x="6689217" y="3810"/>
                </a:lnTo>
                <a:lnTo>
                  <a:pt x="6689217" y="7620"/>
                </a:lnTo>
                <a:close/>
              </a:path>
              <a:path w="6689725" h="9821545">
                <a:moveTo>
                  <a:pt x="7619" y="9817404"/>
                </a:moveTo>
                <a:lnTo>
                  <a:pt x="3809" y="9813594"/>
                </a:lnTo>
                <a:lnTo>
                  <a:pt x="7619" y="9813594"/>
                </a:lnTo>
                <a:lnTo>
                  <a:pt x="7619" y="9817404"/>
                </a:lnTo>
                <a:close/>
              </a:path>
              <a:path w="6689725" h="9821545">
                <a:moveTo>
                  <a:pt x="6681597" y="9817404"/>
                </a:moveTo>
                <a:lnTo>
                  <a:pt x="7619" y="9817404"/>
                </a:lnTo>
                <a:lnTo>
                  <a:pt x="7619" y="9813594"/>
                </a:lnTo>
                <a:lnTo>
                  <a:pt x="6681597" y="9813594"/>
                </a:lnTo>
                <a:lnTo>
                  <a:pt x="6681597" y="9817404"/>
                </a:lnTo>
                <a:close/>
              </a:path>
              <a:path w="6689725" h="9821545">
                <a:moveTo>
                  <a:pt x="6689217" y="9817404"/>
                </a:moveTo>
                <a:lnTo>
                  <a:pt x="6681597" y="9817404"/>
                </a:lnTo>
                <a:lnTo>
                  <a:pt x="6685407" y="9813594"/>
                </a:lnTo>
                <a:lnTo>
                  <a:pt x="6689217" y="9813594"/>
                </a:lnTo>
                <a:lnTo>
                  <a:pt x="6689217" y="9817404"/>
                </a:lnTo>
                <a:close/>
              </a:path>
            </a:pathLst>
          </a:custGeom>
          <a:solidFill>
            <a:srgbClr val="E3D7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95605" y="395605"/>
            <a:ext cx="6768465" cy="558165"/>
          </a:xfrm>
          <a:custGeom>
            <a:avLst/>
            <a:gdLst/>
            <a:ahLst/>
            <a:cxnLst/>
            <a:rect l="l" t="t" r="r" b="b"/>
            <a:pathLst>
              <a:path w="6768465" h="558165">
                <a:moveTo>
                  <a:pt x="6767995" y="557999"/>
                </a:moveTo>
                <a:lnTo>
                  <a:pt x="0" y="557999"/>
                </a:lnTo>
                <a:lnTo>
                  <a:pt x="0" y="0"/>
                </a:lnTo>
                <a:lnTo>
                  <a:pt x="6767995" y="0"/>
                </a:lnTo>
                <a:lnTo>
                  <a:pt x="6767995" y="557999"/>
                </a:lnTo>
                <a:close/>
              </a:path>
            </a:pathLst>
          </a:custGeom>
          <a:solidFill>
            <a:srgbClr val="F8F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95605" y="947254"/>
            <a:ext cx="6768465" cy="12700"/>
          </a:xfrm>
          <a:custGeom>
            <a:avLst/>
            <a:gdLst/>
            <a:ahLst/>
            <a:cxnLst/>
            <a:rect l="l" t="t" r="r" b="b"/>
            <a:pathLst>
              <a:path w="6768465" h="12700">
                <a:moveTo>
                  <a:pt x="6767995" y="12700"/>
                </a:moveTo>
                <a:lnTo>
                  <a:pt x="0" y="12700"/>
                </a:lnTo>
                <a:lnTo>
                  <a:pt x="0" y="0"/>
                </a:lnTo>
                <a:lnTo>
                  <a:pt x="6767995" y="0"/>
                </a:lnTo>
                <a:lnTo>
                  <a:pt x="6767995" y="12700"/>
                </a:lnTo>
                <a:close/>
              </a:path>
            </a:pathLst>
          </a:custGeom>
          <a:solidFill>
            <a:srgbClr val="A88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548888" y="9764225"/>
            <a:ext cx="472439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96D66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—</a:t>
            </a:r>
            <a:r>
              <a:rPr dirty="0" spc="-50"/>
              <a:t> </a:t>
            </a: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 spc="-50"/>
              <a:t>—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5552" y="2494788"/>
            <a:ext cx="114300" cy="822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416" y="3361944"/>
            <a:ext cx="114300" cy="822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4444" y="5032247"/>
            <a:ext cx="114300" cy="8229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679947" y="5032247"/>
            <a:ext cx="269875" cy="82550"/>
            <a:chOff x="5679947" y="5032247"/>
            <a:chExt cx="269875" cy="825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9947" y="5032247"/>
              <a:ext cx="114300" cy="822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5395" y="5032247"/>
              <a:ext cx="114300" cy="8229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5851" y="5230367"/>
            <a:ext cx="114300" cy="822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5444" y="5963411"/>
            <a:ext cx="114300" cy="822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4120" y="6515100"/>
            <a:ext cx="114300" cy="8229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708400" y="90995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272" y="142557"/>
                </a:moveTo>
                <a:lnTo>
                  <a:pt x="0" y="71272"/>
                </a:lnTo>
                <a:lnTo>
                  <a:pt x="71272" y="0"/>
                </a:lnTo>
                <a:lnTo>
                  <a:pt x="142557" y="71272"/>
                </a:lnTo>
                <a:lnTo>
                  <a:pt x="71272" y="142557"/>
                </a:lnTo>
                <a:close/>
              </a:path>
            </a:pathLst>
          </a:custGeom>
          <a:solidFill>
            <a:srgbClr val="A88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00654" y="2186304"/>
            <a:ext cx="2158365" cy="11430"/>
          </a:xfrm>
          <a:custGeom>
            <a:avLst/>
            <a:gdLst/>
            <a:ahLst/>
            <a:cxnLst/>
            <a:rect l="l" t="t" r="r" b="b"/>
            <a:pathLst>
              <a:path w="2158365" h="11430">
                <a:moveTo>
                  <a:pt x="2158250" y="11430"/>
                </a:moveTo>
                <a:lnTo>
                  <a:pt x="0" y="11430"/>
                </a:lnTo>
                <a:lnTo>
                  <a:pt x="0" y="0"/>
                </a:lnTo>
                <a:lnTo>
                  <a:pt x="2158250" y="0"/>
                </a:lnTo>
                <a:lnTo>
                  <a:pt x="2158250" y="11430"/>
                </a:lnTo>
                <a:close/>
              </a:path>
            </a:pathLst>
          </a:custGeom>
          <a:solidFill>
            <a:srgbClr val="A88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54679" y="7700009"/>
            <a:ext cx="1249680" cy="7620"/>
          </a:xfrm>
          <a:custGeom>
            <a:avLst/>
            <a:gdLst/>
            <a:ahLst/>
            <a:cxnLst/>
            <a:rect l="l" t="t" r="r" b="b"/>
            <a:pathLst>
              <a:path w="1249679" h="7620">
                <a:moveTo>
                  <a:pt x="1249514" y="7620"/>
                </a:moveTo>
                <a:lnTo>
                  <a:pt x="0" y="7620"/>
                </a:lnTo>
                <a:lnTo>
                  <a:pt x="0" y="0"/>
                </a:lnTo>
                <a:lnTo>
                  <a:pt x="1249514" y="0"/>
                </a:lnTo>
                <a:lnTo>
                  <a:pt x="1249514" y="7620"/>
                </a:lnTo>
                <a:close/>
              </a:path>
            </a:pathLst>
          </a:custGeom>
          <a:solidFill>
            <a:srgbClr val="796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63359" y="609713"/>
            <a:ext cx="1177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2A221F"/>
                </a:solidFill>
                <a:latin typeface="Ebrima"/>
                <a:cs typeface="Ebrima"/>
              </a:rPr>
              <a:t>ሐና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አቡ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75">
                <a:solidFill>
                  <a:srgbClr val="2A221F"/>
                </a:solidFill>
                <a:latin typeface="Ebrima"/>
                <a:cs typeface="Ebrima"/>
              </a:rPr>
              <a:t>-</a:t>
            </a:r>
            <a:r>
              <a:rPr dirty="0" sz="1200" spc="-185">
                <a:solidFill>
                  <a:srgbClr val="2A221F"/>
                </a:solidFill>
                <a:latin typeface="Ebrima"/>
                <a:cs typeface="Ebrima"/>
              </a:rPr>
              <a:t>-</a:t>
            </a:r>
            <a:r>
              <a:rPr dirty="0" sz="1200" spc="-130">
                <a:solidFill>
                  <a:srgbClr val="2A221F"/>
                </a:solidFill>
                <a:latin typeface="Ebrima"/>
                <a:cs typeface="Ebrima"/>
              </a:rPr>
              <a:t>-</a:t>
            </a:r>
            <a:r>
              <a:rPr dirty="0" sz="1200" spc="-9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0">
                <a:latin typeface="Ebrima"/>
                <a:cs typeface="Ebrima"/>
              </a:rPr>
              <a:t>በመታሰቢያ</a:t>
            </a:r>
            <a:endParaRPr sz="1200">
              <a:latin typeface="Ebrima"/>
              <a:cs typeface="Ebri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2359" y="608203"/>
            <a:ext cx="621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796D66"/>
                </a:solidFill>
                <a:latin typeface="Times New Roman"/>
                <a:cs typeface="Times New Roman"/>
              </a:rPr>
              <a:t>Amharic</a:t>
            </a:r>
            <a:r>
              <a:rPr dirty="0" sz="1200" spc="-75" i="1">
                <a:solidFill>
                  <a:srgbClr val="796D66"/>
                </a:solidFill>
                <a:latin typeface="Times New Roman"/>
                <a:cs typeface="Times New Roman"/>
              </a:rPr>
              <a:t> </a:t>
            </a:r>
            <a:r>
              <a:rPr dirty="0" sz="1200" spc="-50" i="1">
                <a:solidFill>
                  <a:srgbClr val="796D66"/>
                </a:solidFill>
                <a:latin typeface="Times New Roman"/>
                <a:cs typeface="Times New Roman"/>
              </a:rPr>
              <a:t>·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7608" y="1594231"/>
            <a:ext cx="5346065" cy="131635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2563495" marR="1677670" indent="-528955">
              <a:lnSpc>
                <a:spcPts val="1260"/>
              </a:lnSpc>
              <a:spcBef>
                <a:spcPts val="290"/>
              </a:spcBef>
            </a:pPr>
            <a:r>
              <a:rPr dirty="0" sz="1200" spc="-110">
                <a:latin typeface="Ebrima"/>
                <a:cs typeface="Ebrima"/>
              </a:rPr>
              <a:t>የሐና</a:t>
            </a:r>
            <a:r>
              <a:rPr dirty="0" sz="1200" spc="25">
                <a:latin typeface="Ebrima"/>
                <a:cs typeface="Ebrima"/>
              </a:rPr>
              <a:t> </a:t>
            </a:r>
            <a:r>
              <a:rPr dirty="0" sz="1200" spc="-114">
                <a:latin typeface="Ebrima"/>
                <a:cs typeface="Ebrima"/>
              </a:rPr>
              <a:t>አቡ</a:t>
            </a:r>
            <a:r>
              <a:rPr dirty="0" sz="1200" spc="35">
                <a:latin typeface="Ebrima"/>
                <a:cs typeface="Ebrima"/>
              </a:rPr>
              <a:t> </a:t>
            </a:r>
            <a:r>
              <a:rPr dirty="0" sz="1200" spc="-165">
                <a:latin typeface="Ebrima"/>
                <a:cs typeface="Ebrima"/>
              </a:rPr>
              <a:t>አጭር</a:t>
            </a:r>
            <a:r>
              <a:rPr dirty="0" sz="1200" spc="45">
                <a:latin typeface="Ebrima"/>
                <a:cs typeface="Ebrima"/>
              </a:rPr>
              <a:t> </a:t>
            </a:r>
            <a:r>
              <a:rPr dirty="0" sz="1200" spc="-145">
                <a:latin typeface="Ebrima"/>
                <a:cs typeface="Ebrima"/>
              </a:rPr>
              <a:t>የሕይወት</a:t>
            </a:r>
            <a:r>
              <a:rPr dirty="0" sz="1200" spc="45">
                <a:latin typeface="Ebrima"/>
                <a:cs typeface="Ebrima"/>
              </a:rPr>
              <a:t> </a:t>
            </a:r>
            <a:r>
              <a:rPr dirty="0" sz="1200" spc="-100">
                <a:latin typeface="Ebrima"/>
                <a:cs typeface="Ebrima"/>
              </a:rPr>
              <a:t>ታሪክ </a:t>
            </a:r>
            <a:r>
              <a:rPr dirty="0" sz="1200" spc="-10">
                <a:latin typeface="Ebrima"/>
                <a:cs typeface="Ebrima"/>
              </a:rPr>
              <a:t>በመታሰቢያ</a:t>
            </a:r>
            <a:endParaRPr sz="1200">
              <a:latin typeface="Ebrima"/>
              <a:cs typeface="Ebrima"/>
            </a:endParaRPr>
          </a:p>
          <a:p>
            <a:pPr>
              <a:lnSpc>
                <a:spcPct val="100000"/>
              </a:lnSpc>
            </a:pPr>
            <a:endParaRPr sz="1200">
              <a:latin typeface="Ebrima"/>
              <a:cs typeface="Ebri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Ebrima"/>
              <a:cs typeface="Ebrima"/>
            </a:endParaRPr>
          </a:p>
          <a:p>
            <a:pPr marL="12700" marR="5080">
              <a:lnSpc>
                <a:spcPct val="144200"/>
              </a:lnSpc>
              <a:tabLst>
                <a:tab pos="3432175" algn="l"/>
              </a:tabLst>
            </a:pPr>
            <a:r>
              <a:rPr dirty="0" sz="1200" spc="-110">
                <a:solidFill>
                  <a:srgbClr val="2A221F"/>
                </a:solidFill>
                <a:latin typeface="Ebrima"/>
                <a:cs typeface="Ebrima"/>
              </a:rPr>
              <a:t>ሐና</a:t>
            </a:r>
            <a:r>
              <a:rPr dirty="0" sz="1200" spc="-4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አቡ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14">
                <a:solidFill>
                  <a:srgbClr val="2A221F"/>
                </a:solidFill>
                <a:latin typeface="Ebrima"/>
                <a:cs typeface="Ebrima"/>
              </a:rPr>
              <a:t>ከአቶ</a:t>
            </a:r>
            <a:r>
              <a:rPr dirty="0" sz="1200" spc="-5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አቡ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0">
                <a:solidFill>
                  <a:srgbClr val="2A221F"/>
                </a:solidFill>
                <a:latin typeface="Ebrima"/>
                <a:cs typeface="Ebrima"/>
              </a:rPr>
              <a:t>ቦኪ</a:t>
            </a:r>
            <a:r>
              <a:rPr dirty="0" sz="1200" spc="-4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0">
                <a:solidFill>
                  <a:srgbClr val="2A221F"/>
                </a:solidFill>
                <a:latin typeface="Ebrima"/>
                <a:cs typeface="Ebrima"/>
              </a:rPr>
              <a:t>እና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70">
                <a:solidFill>
                  <a:srgbClr val="2A221F"/>
                </a:solidFill>
                <a:latin typeface="Ebrima"/>
                <a:cs typeface="Ebrima"/>
              </a:rPr>
              <a:t>ከወ/ሮ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Ebrima"/>
                <a:cs typeface="Ebrima"/>
              </a:rPr>
              <a:t>አዩ</a:t>
            </a:r>
            <a:r>
              <a:rPr dirty="0" sz="1200" spc="-4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00">
                <a:solidFill>
                  <a:srgbClr val="2A221F"/>
                </a:solidFill>
                <a:latin typeface="Ebrima"/>
                <a:cs typeface="Ebrima"/>
              </a:rPr>
              <a:t>ገመቻ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ተወለደች።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በ1996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ዓ.</a:t>
            </a: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	</a:t>
            </a:r>
            <a:r>
              <a:rPr dirty="0" sz="1200" spc="-114">
                <a:solidFill>
                  <a:srgbClr val="2A221F"/>
                </a:solidFill>
                <a:latin typeface="Ebrima"/>
                <a:cs typeface="Ebrima"/>
              </a:rPr>
              <a:t>በአዳ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65">
                <a:solidFill>
                  <a:srgbClr val="2A221F"/>
                </a:solidFill>
                <a:latin typeface="Ebrima"/>
                <a:cs typeface="Ebrima"/>
              </a:rPr>
              <a:t>ቆሼ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10">
                <a:solidFill>
                  <a:srgbClr val="2A221F"/>
                </a:solidFill>
                <a:latin typeface="Ebrima"/>
                <a:cs typeface="Ebrima"/>
              </a:rPr>
              <a:t>አካባቢ፣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80">
                <a:solidFill>
                  <a:srgbClr val="2A221F"/>
                </a:solidFill>
                <a:latin typeface="Ebrima"/>
                <a:cs typeface="Ebrima"/>
              </a:rPr>
              <a:t>በሙኔሳ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ወዳዳ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ተወለደች።</a:t>
            </a:r>
            <a:r>
              <a:rPr dirty="0" sz="1200" spc="1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5">
                <a:solidFill>
                  <a:srgbClr val="2A221F"/>
                </a:solidFill>
                <a:latin typeface="Ebrima"/>
                <a:cs typeface="Ebrima"/>
              </a:rPr>
              <a:t>በልጅነቷ</a:t>
            </a:r>
            <a:r>
              <a:rPr dirty="0" sz="1200" spc="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90">
                <a:solidFill>
                  <a:srgbClr val="2A221F"/>
                </a:solidFill>
                <a:latin typeface="Ebrima"/>
                <a:cs typeface="Ebrima"/>
              </a:rPr>
              <a:t>ጊዜ</a:t>
            </a:r>
            <a:r>
              <a:rPr dirty="0" sz="1200" spc="5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እንደ</a:t>
            </a:r>
            <a:r>
              <a:rPr dirty="0" sz="1200" spc="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ሌሎች</a:t>
            </a:r>
            <a:r>
              <a:rPr dirty="0" sz="1200" spc="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የገጠር</a:t>
            </a:r>
            <a:r>
              <a:rPr dirty="0" sz="1200" spc="5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95">
                <a:solidFill>
                  <a:srgbClr val="2A221F"/>
                </a:solidFill>
                <a:latin typeface="Ebrima"/>
                <a:cs typeface="Ebrima"/>
              </a:rPr>
              <a:t>ልጆች</a:t>
            </a:r>
            <a:r>
              <a:rPr dirty="0" sz="1200" spc="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0">
                <a:solidFill>
                  <a:srgbClr val="2A221F"/>
                </a:solidFill>
                <a:latin typeface="Ebrima"/>
                <a:cs typeface="Ebrima"/>
              </a:rPr>
              <a:t>ከቤተሰቧና</a:t>
            </a:r>
            <a:r>
              <a:rPr dirty="0" sz="1200" spc="6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ከጎረቤቶች</a:t>
            </a:r>
            <a:r>
              <a:rPr dirty="0" sz="1200" spc="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0">
                <a:solidFill>
                  <a:srgbClr val="2A221F"/>
                </a:solidFill>
                <a:latin typeface="Ebrima"/>
                <a:cs typeface="Ebrima"/>
              </a:rPr>
              <a:t>ጋር</a:t>
            </a:r>
            <a:r>
              <a:rPr dirty="0" sz="1200" spc="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0">
                <a:solidFill>
                  <a:srgbClr val="2A221F"/>
                </a:solidFill>
                <a:latin typeface="Ebrima"/>
                <a:cs typeface="Ebrima"/>
              </a:rPr>
              <a:t>በፍቅርና</a:t>
            </a:r>
            <a:r>
              <a:rPr dirty="0" sz="1200" spc="5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10">
                <a:solidFill>
                  <a:srgbClr val="2A221F"/>
                </a:solidFill>
                <a:latin typeface="Ebrima"/>
                <a:cs typeface="Ebrima"/>
              </a:rPr>
              <a:t>በመጫወት</a:t>
            </a:r>
            <a:r>
              <a:rPr dirty="0" sz="1200" spc="5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አደገች።</a:t>
            </a:r>
            <a:endParaRPr sz="1200">
              <a:latin typeface="Ebrima"/>
              <a:cs typeface="Ebri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6632" y="3345179"/>
            <a:ext cx="114300" cy="822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381504" y="3263010"/>
            <a:ext cx="3816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80">
                <a:solidFill>
                  <a:srgbClr val="2A221F"/>
                </a:solidFill>
                <a:latin typeface="Ebrima"/>
                <a:cs typeface="Ebrima"/>
              </a:rPr>
              <a:t>በሙኔሳ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00">
                <a:solidFill>
                  <a:srgbClr val="2A221F"/>
                </a:solidFill>
                <a:latin typeface="Ebrima"/>
                <a:cs typeface="Ebrima"/>
              </a:rPr>
              <a:t>የመጀመሪያ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ደረጃ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5">
                <a:solidFill>
                  <a:srgbClr val="2A221F"/>
                </a:solidFill>
                <a:latin typeface="Ebrima"/>
                <a:cs typeface="Ebrima"/>
              </a:rPr>
              <a:t>ት/ቤት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10">
                <a:solidFill>
                  <a:srgbClr val="2A221F"/>
                </a:solidFill>
                <a:latin typeface="Ebrima"/>
                <a:cs typeface="Ebrima"/>
              </a:rPr>
              <a:t>ከ1ኛ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10">
                <a:solidFill>
                  <a:srgbClr val="2A221F"/>
                </a:solidFill>
                <a:latin typeface="Ebrima"/>
                <a:cs typeface="Ebrima"/>
              </a:rPr>
              <a:t>ክፍል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5">
                <a:solidFill>
                  <a:srgbClr val="2A221F"/>
                </a:solidFill>
                <a:latin typeface="Ebrima"/>
                <a:cs typeface="Ebrima"/>
              </a:rPr>
              <a:t>ጀመረች።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እስከ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80">
                <a:solidFill>
                  <a:srgbClr val="2A221F"/>
                </a:solidFill>
                <a:latin typeface="Ebrima"/>
                <a:cs typeface="Ebrima"/>
              </a:rPr>
              <a:t>8ኛ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0">
                <a:solidFill>
                  <a:srgbClr val="2A221F"/>
                </a:solidFill>
                <a:latin typeface="Ebrima"/>
                <a:cs typeface="Ebrima"/>
              </a:rPr>
              <a:t>ክፍል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Ebrima"/>
                <a:cs typeface="Ebrima"/>
              </a:rPr>
              <a:t>በዚያው</a:t>
            </a:r>
            <a:endParaRPr sz="1200">
              <a:latin typeface="Ebrima"/>
              <a:cs typeface="Ebri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7608" y="3263010"/>
            <a:ext cx="14344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2A221F"/>
                </a:solidFill>
                <a:latin typeface="Ebrima"/>
                <a:cs typeface="Ebrima"/>
              </a:rPr>
              <a:t>ሐና</a:t>
            </a:r>
            <a:r>
              <a:rPr dirty="0" sz="1200" spc="-5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ት</a:t>
            </a:r>
            <a:r>
              <a:rPr dirty="0" sz="1200" spc="4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5">
                <a:solidFill>
                  <a:srgbClr val="2A221F"/>
                </a:solidFill>
                <a:latin typeface="Ebrima"/>
                <a:cs typeface="Ebrima"/>
              </a:rPr>
              <a:t>ህርቷን</a:t>
            </a:r>
            <a:r>
              <a:rPr dirty="0" sz="1200" spc="-4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በ2002</a:t>
            </a:r>
            <a:r>
              <a:rPr dirty="0" sz="1200" spc="-5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ዓ. </a:t>
            </a:r>
            <a:r>
              <a:rPr dirty="0" sz="1200" spc="-155">
                <a:solidFill>
                  <a:srgbClr val="2A221F"/>
                </a:solidFill>
                <a:latin typeface="Ebrima"/>
                <a:cs typeface="Ebrima"/>
              </a:rPr>
              <a:t>ት/ቤት</a:t>
            </a: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60">
                <a:solidFill>
                  <a:srgbClr val="2A221F"/>
                </a:solidFill>
                <a:latin typeface="Ebrima"/>
                <a:cs typeface="Ebrima"/>
              </a:rPr>
              <a:t>ተማርታ</a:t>
            </a:r>
            <a:r>
              <a:rPr dirty="0" sz="1200" spc="7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10">
                <a:solidFill>
                  <a:srgbClr val="2A221F"/>
                </a:solidFill>
                <a:latin typeface="Ebrima"/>
                <a:cs typeface="Ebrima"/>
              </a:rPr>
              <a:t>አጠናቀቀች።</a:t>
            </a:r>
            <a:endParaRPr sz="1200">
              <a:latin typeface="Ebrima"/>
              <a:cs typeface="Ebri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7647" y="4265676"/>
            <a:ext cx="114300" cy="8229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3164" y="4448555"/>
            <a:ext cx="114300" cy="8229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27608" y="3813175"/>
            <a:ext cx="5870575" cy="1694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ከዚያ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14">
                <a:solidFill>
                  <a:srgbClr val="2A221F"/>
                </a:solidFill>
                <a:latin typeface="Ebrima"/>
                <a:cs typeface="Ebrima"/>
              </a:rPr>
              <a:t>በኋላ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5">
                <a:solidFill>
                  <a:srgbClr val="2A221F"/>
                </a:solidFill>
                <a:latin typeface="Ebrima"/>
                <a:cs typeface="Ebrima"/>
              </a:rPr>
              <a:t>ወደ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5">
                <a:solidFill>
                  <a:srgbClr val="2A221F"/>
                </a:solidFill>
                <a:latin typeface="Ebrima"/>
                <a:cs typeface="Ebrima"/>
              </a:rPr>
              <a:t>ቀርሳ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80">
                <a:solidFill>
                  <a:srgbClr val="2A221F"/>
                </a:solidFill>
                <a:latin typeface="Ebrima"/>
                <a:cs typeface="Ebrima"/>
              </a:rPr>
              <a:t>ከተማ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60">
                <a:solidFill>
                  <a:srgbClr val="2A221F"/>
                </a:solidFill>
                <a:latin typeface="Ebrima"/>
                <a:cs typeface="Ebrima"/>
              </a:rPr>
              <a:t>ተዛውራ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Ebrima"/>
                <a:cs typeface="Ebrima"/>
              </a:rPr>
              <a:t>9ኛ</a:t>
            </a:r>
            <a:r>
              <a:rPr dirty="0" sz="1200" spc="-1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0">
                <a:solidFill>
                  <a:srgbClr val="2A221F"/>
                </a:solidFill>
                <a:latin typeface="Ebrima"/>
                <a:cs typeface="Ebrima"/>
              </a:rPr>
              <a:t>ክፍል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5">
                <a:solidFill>
                  <a:srgbClr val="2A221F"/>
                </a:solidFill>
                <a:latin typeface="Ebrima"/>
                <a:cs typeface="Ebrima"/>
              </a:rPr>
              <a:t>በቀርሳ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ሁለተኛ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ደረጃ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5">
                <a:solidFill>
                  <a:srgbClr val="2A221F"/>
                </a:solidFill>
                <a:latin typeface="Ebrima"/>
                <a:cs typeface="Ebrima"/>
              </a:rPr>
              <a:t>ት/ቤት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5">
                <a:solidFill>
                  <a:srgbClr val="2A221F"/>
                </a:solidFill>
                <a:latin typeface="Ebrima"/>
                <a:cs typeface="Ebrima"/>
              </a:rPr>
              <a:t>ገብታ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እስከ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00">
                <a:solidFill>
                  <a:srgbClr val="2A221F"/>
                </a:solidFill>
                <a:latin typeface="Ebrima"/>
                <a:cs typeface="Ebrima"/>
              </a:rPr>
              <a:t>12ኛ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5">
                <a:solidFill>
                  <a:srgbClr val="2A221F"/>
                </a:solidFill>
                <a:latin typeface="Ebrima"/>
                <a:cs typeface="Ebrima"/>
              </a:rPr>
              <a:t>ክፍል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65">
                <a:solidFill>
                  <a:srgbClr val="2A221F"/>
                </a:solidFill>
                <a:latin typeface="Ebrima"/>
                <a:cs typeface="Ebrima"/>
              </a:rPr>
              <a:t>ተማርታ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Ebrima"/>
                <a:cs typeface="Ebrima"/>
              </a:rPr>
              <a:t>አጠናቀቀች።</a:t>
            </a:r>
            <a:endParaRPr sz="1200">
              <a:latin typeface="Ebrima"/>
              <a:cs typeface="Ebrima"/>
            </a:endParaRPr>
          </a:p>
          <a:p>
            <a:pPr marL="12700" marR="99695">
              <a:lnSpc>
                <a:spcPct val="100000"/>
              </a:lnSpc>
              <a:spcBef>
                <a:spcPts val="1475"/>
              </a:spcBef>
            </a:pPr>
            <a:r>
              <a:rPr dirty="0" sz="1200" spc="-204">
                <a:solidFill>
                  <a:srgbClr val="2A221F"/>
                </a:solidFill>
                <a:latin typeface="Ebrima"/>
                <a:cs typeface="Ebrima"/>
              </a:rPr>
              <a:t>12ኛ</a:t>
            </a:r>
            <a:r>
              <a:rPr dirty="0" sz="1200" spc="-1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5">
                <a:solidFill>
                  <a:srgbClr val="2A221F"/>
                </a:solidFill>
                <a:latin typeface="Ebrima"/>
                <a:cs typeface="Ebrima"/>
              </a:rPr>
              <a:t>ክፍል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ላይ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የፈለገችውን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90">
                <a:solidFill>
                  <a:srgbClr val="2A221F"/>
                </a:solidFill>
                <a:latin typeface="Ebrima"/>
                <a:cs typeface="Ebrima"/>
              </a:rPr>
              <a:t>ውጤት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14">
                <a:solidFill>
                  <a:srgbClr val="2A221F"/>
                </a:solidFill>
                <a:latin typeface="Ebrima"/>
                <a:cs typeface="Ebrima"/>
              </a:rPr>
              <a:t>ስላልገኘች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5">
                <a:solidFill>
                  <a:srgbClr val="2A221F"/>
                </a:solidFill>
                <a:latin typeface="Ebrima"/>
                <a:cs typeface="Ebrima"/>
              </a:rPr>
              <a:t>ወደ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አሰላ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80">
                <a:solidFill>
                  <a:srgbClr val="2A221F"/>
                </a:solidFill>
                <a:latin typeface="Ebrima"/>
                <a:cs typeface="Ebrima"/>
              </a:rPr>
              <a:t>ከተማ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60">
                <a:solidFill>
                  <a:srgbClr val="2A221F"/>
                </a:solidFill>
                <a:latin typeface="Ebrima"/>
                <a:cs typeface="Ebrima"/>
              </a:rPr>
              <a:t>ተዛውራ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90">
                <a:solidFill>
                  <a:srgbClr val="2A221F"/>
                </a:solidFill>
                <a:latin typeface="Ebrima"/>
                <a:cs typeface="Ebrima"/>
              </a:rPr>
              <a:t>በጭላሎ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5">
                <a:solidFill>
                  <a:srgbClr val="2A221F"/>
                </a:solidFill>
                <a:latin typeface="Ebrima"/>
                <a:cs typeface="Ebrima"/>
              </a:rPr>
              <a:t>ኮሌጅ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የላቦራቶሪ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60">
                <a:solidFill>
                  <a:srgbClr val="2A221F"/>
                </a:solidFill>
                <a:latin typeface="Ebrima"/>
                <a:cs typeface="Ebrima"/>
              </a:rPr>
              <a:t>ቴክኖሎጂ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ት</a:t>
            </a:r>
            <a:r>
              <a:rPr dirty="0" sz="1200" spc="130">
                <a:solidFill>
                  <a:srgbClr val="2A221F"/>
                </a:solidFill>
                <a:latin typeface="Ebrima"/>
                <a:cs typeface="Ebrima"/>
              </a:rPr>
              <a:t>  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ህርት </a:t>
            </a:r>
            <a:r>
              <a:rPr dirty="0" sz="1200" spc="-105">
                <a:solidFill>
                  <a:srgbClr val="2A221F"/>
                </a:solidFill>
                <a:latin typeface="Ebrima"/>
                <a:cs typeface="Ebrima"/>
              </a:rPr>
              <a:t>ተከታተለች።</a:t>
            </a:r>
            <a:r>
              <a:rPr dirty="0" sz="1200" spc="-1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ት</a:t>
            </a:r>
            <a:r>
              <a:rPr dirty="0" sz="1200" spc="130">
                <a:solidFill>
                  <a:srgbClr val="2A221F"/>
                </a:solidFill>
                <a:latin typeface="Ebrima"/>
                <a:cs typeface="Ebrima"/>
              </a:rPr>
              <a:t>  </a:t>
            </a:r>
            <a:r>
              <a:rPr dirty="0" sz="1200" spc="-135">
                <a:solidFill>
                  <a:srgbClr val="2A221F"/>
                </a:solidFill>
                <a:latin typeface="Ebrima"/>
                <a:cs typeface="Ebrima"/>
              </a:rPr>
              <a:t>ህርቷን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በተሳካ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0">
                <a:solidFill>
                  <a:srgbClr val="2A221F"/>
                </a:solidFill>
                <a:latin typeface="Ebrima"/>
                <a:cs typeface="Ebrima"/>
              </a:rPr>
              <a:t>ሁኔታ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0">
                <a:solidFill>
                  <a:srgbClr val="2A221F"/>
                </a:solidFill>
                <a:latin typeface="Ebrima"/>
                <a:cs typeface="Ebrima"/>
              </a:rPr>
              <a:t>አጠናቀቀችና</a:t>
            </a:r>
            <a:r>
              <a:rPr dirty="0" sz="1200" spc="-1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5">
                <a:solidFill>
                  <a:srgbClr val="2A221F"/>
                </a:solidFill>
                <a:latin typeface="Ebrima"/>
                <a:cs typeface="Ebrima"/>
              </a:rPr>
              <a:t>በ30/05/2018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5">
                <a:solidFill>
                  <a:srgbClr val="2A221F"/>
                </a:solidFill>
                <a:latin typeface="Ebrima"/>
                <a:cs typeface="Ebrima"/>
              </a:rPr>
              <a:t>ቀን</a:t>
            </a:r>
            <a:r>
              <a:rPr dirty="0" sz="1200" spc="-1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60">
                <a:solidFill>
                  <a:srgbClr val="2A221F"/>
                </a:solidFill>
                <a:latin typeface="Ebrima"/>
                <a:cs typeface="Ebrima"/>
              </a:rPr>
              <a:t>ተመርቃ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5">
                <a:solidFill>
                  <a:srgbClr val="2A221F"/>
                </a:solidFill>
                <a:latin typeface="Ebrima"/>
                <a:cs typeface="Ebrima"/>
              </a:rPr>
              <a:t>ታላቅ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5">
                <a:solidFill>
                  <a:srgbClr val="2A221F"/>
                </a:solidFill>
                <a:latin typeface="Ebrima"/>
                <a:cs typeface="Ebrima"/>
              </a:rPr>
              <a:t>ደስታ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Ebrima"/>
                <a:cs typeface="Ebrima"/>
              </a:rPr>
              <a:t>አገኘች።</a:t>
            </a:r>
            <a:endParaRPr sz="1200">
              <a:latin typeface="Ebrima"/>
              <a:cs typeface="Ebrima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12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tabLst>
                <a:tab pos="3768725" algn="l"/>
              </a:tabLst>
            </a:pPr>
            <a:r>
              <a:rPr dirty="0" sz="1200" spc="-100">
                <a:solidFill>
                  <a:srgbClr val="2A221F"/>
                </a:solidFill>
                <a:latin typeface="Ebrima"/>
                <a:cs typeface="Ebrima"/>
              </a:rPr>
              <a:t>ሐና</a:t>
            </a:r>
            <a:r>
              <a:rPr dirty="0" sz="1200" spc="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በሕይወቷ</a:t>
            </a:r>
            <a:r>
              <a:rPr dirty="0" sz="1200" spc="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ብዙ</a:t>
            </a:r>
            <a:r>
              <a:rPr dirty="0" sz="1200" spc="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ከባድ</a:t>
            </a:r>
            <a:r>
              <a:rPr dirty="0" sz="1200" spc="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5">
                <a:solidFill>
                  <a:srgbClr val="2A221F"/>
                </a:solidFill>
                <a:latin typeface="Ebrima"/>
                <a:cs typeface="Ebrima"/>
              </a:rPr>
              <a:t>ጊዜያትን</a:t>
            </a:r>
            <a:r>
              <a:rPr dirty="0" sz="1200" spc="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85">
                <a:solidFill>
                  <a:srgbClr val="2A221F"/>
                </a:solidFill>
                <a:latin typeface="Ebrima"/>
                <a:cs typeface="Ebrima"/>
              </a:rPr>
              <a:t>አሳልፋለች።</a:t>
            </a:r>
            <a:r>
              <a:rPr dirty="0" sz="1200" spc="5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በተለይ</a:t>
            </a:r>
            <a:r>
              <a:rPr dirty="0" sz="1200" spc="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5">
                <a:solidFill>
                  <a:srgbClr val="2A221F"/>
                </a:solidFill>
                <a:latin typeface="Ebrima"/>
                <a:cs typeface="Ebrima"/>
              </a:rPr>
              <a:t>በ2013–</a:t>
            </a:r>
            <a:r>
              <a:rPr dirty="0" sz="1200" spc="-170">
                <a:solidFill>
                  <a:srgbClr val="2A221F"/>
                </a:solidFill>
                <a:latin typeface="Ebrima"/>
                <a:cs typeface="Ebrima"/>
              </a:rPr>
              <a:t>2014</a:t>
            </a:r>
            <a:r>
              <a:rPr dirty="0" sz="1200" spc="4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ዓ.</a:t>
            </a: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	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አባቷ</a:t>
            </a:r>
            <a:r>
              <a:rPr dirty="0" sz="1200" spc="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5">
                <a:solidFill>
                  <a:srgbClr val="2A221F"/>
                </a:solidFill>
                <a:latin typeface="Ebrima"/>
                <a:cs typeface="Ebrima"/>
              </a:rPr>
              <a:t>ለአንድ</a:t>
            </a:r>
            <a:r>
              <a:rPr dirty="0" sz="1200" spc="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95">
                <a:solidFill>
                  <a:srgbClr val="2A221F"/>
                </a:solidFill>
                <a:latin typeface="Ebrima"/>
                <a:cs typeface="Ebrima"/>
              </a:rPr>
              <a:t>ዓመት</a:t>
            </a:r>
            <a:r>
              <a:rPr dirty="0" sz="1200" spc="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በህመ</a:t>
            </a:r>
            <a:endParaRPr sz="1200">
              <a:latin typeface="Ebrima"/>
              <a:cs typeface="Ebrima"/>
            </a:endParaRPr>
          </a:p>
          <a:p>
            <a:pPr marL="5026025">
              <a:lnSpc>
                <a:spcPct val="100000"/>
              </a:lnSpc>
            </a:pP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ክንያት</a:t>
            </a:r>
            <a:endParaRPr sz="12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tabLst>
                <a:tab pos="2030095" algn="l"/>
              </a:tabLst>
            </a:pPr>
            <a:r>
              <a:rPr dirty="0" sz="1200" spc="-110">
                <a:solidFill>
                  <a:srgbClr val="2A221F"/>
                </a:solidFill>
                <a:latin typeface="Ebrima"/>
                <a:cs typeface="Ebrima"/>
              </a:rPr>
              <a:t>በሆስፒታል</a:t>
            </a:r>
            <a:r>
              <a:rPr dirty="0" sz="1200" spc="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10">
                <a:solidFill>
                  <a:srgbClr val="2A221F"/>
                </a:solidFill>
                <a:latin typeface="Ebrima"/>
                <a:cs typeface="Ebrima"/>
              </a:rPr>
              <a:t>ተኝቶ</a:t>
            </a:r>
            <a:r>
              <a:rPr dirty="0" sz="1200" spc="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Ebrima"/>
                <a:cs typeface="Ebrima"/>
              </a:rPr>
              <a:t>ነበር።</a:t>
            </a:r>
            <a:r>
              <a:rPr dirty="0" sz="1200" spc="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በዚህ</a:t>
            </a:r>
            <a:r>
              <a:rPr dirty="0" sz="1200" spc="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ወቅት</a:t>
            </a: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	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ብዙ</a:t>
            </a:r>
            <a:r>
              <a:rPr dirty="0" sz="1200" spc="4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ችግሮችን</a:t>
            </a:r>
            <a:r>
              <a:rPr dirty="0" sz="1200" spc="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በጽናት</a:t>
            </a:r>
            <a:r>
              <a:rPr dirty="0" sz="1200" spc="4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Ebrima"/>
                <a:cs typeface="Ebrima"/>
              </a:rPr>
              <a:t>ተቋቋመች።</a:t>
            </a:r>
            <a:endParaRPr sz="1200">
              <a:latin typeface="Ebrima"/>
              <a:cs typeface="Ebri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747" y="5946647"/>
            <a:ext cx="114300" cy="8229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039359" y="5864478"/>
            <a:ext cx="12750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ከባድ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የሆነ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የሕይወት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ጫና</a:t>
            </a:r>
            <a:endParaRPr sz="1200">
              <a:latin typeface="Ebrima"/>
              <a:cs typeface="Ebri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736" y="6129528"/>
            <a:ext cx="114300" cy="8229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927608" y="5864478"/>
            <a:ext cx="3950335" cy="758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ት</a:t>
            </a:r>
            <a:r>
              <a:rPr dirty="0" sz="1200" spc="120">
                <a:solidFill>
                  <a:srgbClr val="2A221F"/>
                </a:solidFill>
                <a:latin typeface="Ebrima"/>
                <a:cs typeface="Ebrima"/>
              </a:rPr>
              <a:t>  </a:t>
            </a: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ህርቷን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ከጨረሰች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14">
                <a:solidFill>
                  <a:srgbClr val="2A221F"/>
                </a:solidFill>
                <a:latin typeface="Ebrima"/>
                <a:cs typeface="Ebrima"/>
              </a:rPr>
              <a:t>በኋላ</a:t>
            </a:r>
            <a:r>
              <a:rPr dirty="0" sz="1200" spc="-5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5">
                <a:solidFill>
                  <a:srgbClr val="2A221F"/>
                </a:solidFill>
                <a:latin typeface="Ebrima"/>
                <a:cs typeface="Ebrima"/>
              </a:rPr>
              <a:t>የሥራ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5">
                <a:solidFill>
                  <a:srgbClr val="2A221F"/>
                </a:solidFill>
                <a:latin typeface="Ebrima"/>
                <a:cs typeface="Ebrima"/>
              </a:rPr>
              <a:t>ዝግጅት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45">
                <a:solidFill>
                  <a:srgbClr val="2A221F"/>
                </a:solidFill>
                <a:latin typeface="Ebrima"/>
                <a:cs typeface="Ebrima"/>
              </a:rPr>
              <a:t>(COC)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እያደረገች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90">
                <a:solidFill>
                  <a:srgbClr val="2A221F"/>
                </a:solidFill>
                <a:latin typeface="Ebrima"/>
                <a:cs typeface="Ebrima"/>
              </a:rPr>
              <a:t>ነበር።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5">
                <a:solidFill>
                  <a:srgbClr val="2A221F"/>
                </a:solidFill>
                <a:latin typeface="Ebrima"/>
                <a:cs typeface="Ebrima"/>
              </a:rPr>
              <a:t>ነገር</a:t>
            </a:r>
            <a:r>
              <a:rPr dirty="0" sz="1200" spc="-4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60">
                <a:solidFill>
                  <a:srgbClr val="2A221F"/>
                </a:solidFill>
                <a:latin typeface="Ebrima"/>
                <a:cs typeface="Ebrima"/>
              </a:rPr>
              <a:t>ግን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በጣ </a:t>
            </a:r>
            <a:r>
              <a:rPr dirty="0" sz="1200" spc="-100">
                <a:solidFill>
                  <a:srgbClr val="2A221F"/>
                </a:solidFill>
                <a:latin typeface="Ebrima"/>
                <a:cs typeface="Ebrima"/>
              </a:rPr>
              <a:t>እና</a:t>
            </a:r>
            <a:r>
              <a:rPr dirty="0" sz="1200" spc="-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ድካ</a:t>
            </a:r>
            <a:r>
              <a:rPr dirty="0" sz="1200" spc="37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Ebrima"/>
                <a:cs typeface="Ebrima"/>
              </a:rPr>
              <a:t>(Stress)</a:t>
            </a:r>
            <a:r>
              <a:rPr dirty="0" sz="1200" spc="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5">
                <a:solidFill>
                  <a:srgbClr val="2A221F"/>
                </a:solidFill>
                <a:latin typeface="Ebrima"/>
                <a:cs typeface="Ebrima"/>
              </a:rPr>
              <a:t>ሕይወቷን</a:t>
            </a:r>
            <a:r>
              <a:rPr dirty="0" sz="1200" spc="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95">
                <a:solidFill>
                  <a:srgbClr val="2A221F"/>
                </a:solidFill>
                <a:latin typeface="Ebrima"/>
                <a:cs typeface="Ebrima"/>
              </a:rPr>
              <a:t>አጣች(Self</a:t>
            </a:r>
            <a:r>
              <a:rPr dirty="0" sz="1200" spc="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Ebrima"/>
                <a:cs typeface="Ebrima"/>
              </a:rPr>
              <a:t>Suicide)።</a:t>
            </a:r>
            <a:endParaRPr sz="12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  <a:tabLst>
                <a:tab pos="1744980" algn="l"/>
              </a:tabLst>
            </a:pP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ሐና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65">
                <a:solidFill>
                  <a:srgbClr val="2A221F"/>
                </a:solidFill>
                <a:latin typeface="Ebrima"/>
                <a:cs typeface="Ebrima"/>
              </a:rPr>
              <a:t>በ25/07/2018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60">
                <a:solidFill>
                  <a:srgbClr val="2A221F"/>
                </a:solidFill>
                <a:latin typeface="Ebrima"/>
                <a:cs typeface="Ebrima"/>
              </a:rPr>
              <a:t>ቀን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5">
                <a:solidFill>
                  <a:srgbClr val="2A221F"/>
                </a:solidFill>
                <a:latin typeface="Ebrima"/>
                <a:cs typeface="Ebrima"/>
              </a:rPr>
              <a:t>ከዚህ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ዓለ</a:t>
            </a: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	</a:t>
            </a:r>
            <a:r>
              <a:rPr dirty="0" sz="1200" spc="-155">
                <a:solidFill>
                  <a:srgbClr val="2A221F"/>
                </a:solidFill>
                <a:latin typeface="Ebrima"/>
                <a:cs typeface="Ebrima"/>
              </a:rPr>
              <a:t>ተለይታ</a:t>
            </a:r>
            <a:r>
              <a:rPr dirty="0" sz="1200" spc="-1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ሄደች።</a:t>
            </a:r>
            <a:endParaRPr sz="1200">
              <a:latin typeface="Ebrima"/>
              <a:cs typeface="Ebri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4623" y="7053071"/>
            <a:ext cx="114300" cy="8229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927608" y="6970903"/>
            <a:ext cx="52044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5">
                <a:solidFill>
                  <a:srgbClr val="2A221F"/>
                </a:solidFill>
                <a:latin typeface="Ebrima"/>
                <a:cs typeface="Ebrima"/>
              </a:rPr>
              <a:t>ሐና</a:t>
            </a:r>
            <a:r>
              <a:rPr dirty="0" sz="1200" spc="-5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0">
                <a:solidFill>
                  <a:srgbClr val="2A221F"/>
                </a:solidFill>
                <a:latin typeface="Ebrima"/>
                <a:cs typeface="Ebrima"/>
              </a:rPr>
              <a:t>አቡ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ጠንካራ፣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ታጋሽና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በሕይወቷ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50">
                <a:solidFill>
                  <a:srgbClr val="2A221F"/>
                </a:solidFill>
                <a:latin typeface="Ebrima"/>
                <a:cs typeface="Ebrima"/>
              </a:rPr>
              <a:t>ብዙ</a:t>
            </a:r>
            <a:r>
              <a:rPr dirty="0" sz="1200" spc="-5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ፈተናዎችን</a:t>
            </a:r>
            <a:r>
              <a:rPr dirty="0" sz="1200" spc="-2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ያሸነፈች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70">
                <a:solidFill>
                  <a:srgbClr val="2A221F"/>
                </a:solidFill>
                <a:latin typeface="Ebrima"/>
                <a:cs typeface="Ebrima"/>
              </a:rPr>
              <a:t>ሰው</a:t>
            </a:r>
            <a:r>
              <a:rPr dirty="0" sz="1200" spc="-4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85">
                <a:solidFill>
                  <a:srgbClr val="2A221F"/>
                </a:solidFill>
                <a:latin typeface="Ebrima"/>
                <a:cs typeface="Ebrima"/>
              </a:rPr>
              <a:t>ነበረች።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40">
                <a:solidFill>
                  <a:srgbClr val="2A221F"/>
                </a:solidFill>
                <a:latin typeface="Ebrima"/>
                <a:cs typeface="Ebrima"/>
              </a:rPr>
              <a:t>ታሪኳ</a:t>
            </a:r>
            <a:r>
              <a:rPr dirty="0" sz="1200" spc="-3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0">
                <a:solidFill>
                  <a:srgbClr val="2A221F"/>
                </a:solidFill>
                <a:latin typeface="Ebrima"/>
                <a:cs typeface="Ebrima"/>
              </a:rPr>
              <a:t>ጽናት፣</a:t>
            </a:r>
            <a:r>
              <a:rPr dirty="0" sz="1200" spc="-5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14">
                <a:solidFill>
                  <a:srgbClr val="2A221F"/>
                </a:solidFill>
                <a:latin typeface="Ebrima"/>
                <a:cs typeface="Ebrima"/>
              </a:rPr>
              <a:t>ትጋትና</a:t>
            </a:r>
            <a:r>
              <a:rPr dirty="0" sz="1200" spc="-3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>
                <a:solidFill>
                  <a:srgbClr val="2A221F"/>
                </a:solidFill>
                <a:latin typeface="Ebrima"/>
                <a:cs typeface="Ebrima"/>
              </a:rPr>
              <a:t>ት</a:t>
            </a:r>
            <a:r>
              <a:rPr dirty="0" sz="1200" spc="130">
                <a:solidFill>
                  <a:srgbClr val="2A221F"/>
                </a:solidFill>
                <a:latin typeface="Ebrima"/>
                <a:cs typeface="Ebrima"/>
              </a:rPr>
              <a:t>  </a:t>
            </a:r>
            <a:r>
              <a:rPr dirty="0" sz="1200" spc="-25">
                <a:solidFill>
                  <a:srgbClr val="2A221F"/>
                </a:solidFill>
                <a:latin typeface="Ebrima"/>
                <a:cs typeface="Ebrima"/>
              </a:rPr>
              <a:t>ህርት </a:t>
            </a:r>
            <a:r>
              <a:rPr dirty="0" sz="1200" spc="-130">
                <a:solidFill>
                  <a:srgbClr val="2A221F"/>
                </a:solidFill>
                <a:latin typeface="Ebrima"/>
                <a:cs typeface="Ebrima"/>
              </a:rPr>
              <a:t>እንዴት</a:t>
            </a:r>
            <a:r>
              <a:rPr dirty="0" sz="1200" spc="5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5">
                <a:solidFill>
                  <a:srgbClr val="2A221F"/>
                </a:solidFill>
                <a:latin typeface="Ebrima"/>
                <a:cs typeface="Ebrima"/>
              </a:rPr>
              <a:t>እንደሚያስፈልጉ</a:t>
            </a:r>
            <a:r>
              <a:rPr dirty="0" sz="1200" spc="6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25">
                <a:solidFill>
                  <a:srgbClr val="2A221F"/>
                </a:solidFill>
                <a:latin typeface="Ebrima"/>
                <a:cs typeface="Ebrima"/>
              </a:rPr>
              <a:t>ያሳያል,በስተ</a:t>
            </a:r>
            <a:r>
              <a:rPr dirty="0" sz="1200" spc="60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35">
                <a:solidFill>
                  <a:srgbClr val="2A221F"/>
                </a:solidFill>
                <a:latin typeface="Ebrima"/>
                <a:cs typeface="Ebrima"/>
              </a:rPr>
              <a:t>ጨረሻ</a:t>
            </a:r>
            <a:r>
              <a:rPr dirty="0" sz="1200" spc="55">
                <a:solidFill>
                  <a:srgbClr val="2A221F"/>
                </a:solidFill>
                <a:latin typeface="Ebrima"/>
                <a:cs typeface="Ebrima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Ebrima"/>
                <a:cs typeface="Ebrima"/>
              </a:rPr>
              <a:t>ተሸነፈች።</a:t>
            </a:r>
            <a:endParaRPr sz="1200">
              <a:latin typeface="Ebrima"/>
              <a:cs typeface="Ebri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487" y="990600"/>
            <a:ext cx="989076" cy="98907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954024"/>
            <a:ext cx="989076" cy="98907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548888" y="9381688"/>
            <a:ext cx="47244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796D66"/>
                </a:solidFill>
                <a:latin typeface="Times New Roman"/>
                <a:cs typeface="Times New Roman"/>
              </a:rPr>
              <a:t>—</a:t>
            </a:r>
            <a:r>
              <a:rPr dirty="0" sz="1200" spc="-50">
                <a:solidFill>
                  <a:srgbClr val="796D66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796D66"/>
                </a:solidFill>
                <a:latin typeface="Times New Roman"/>
                <a:cs typeface="Times New Roman"/>
              </a:rPr>
              <a:t>1</a:t>
            </a:r>
            <a:r>
              <a:rPr dirty="0" sz="1200" spc="-40">
                <a:solidFill>
                  <a:srgbClr val="796D66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796D66"/>
                </a:solidFill>
                <a:latin typeface="Times New Roman"/>
                <a:cs typeface="Times New Roman"/>
              </a:rPr>
              <a:t>—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08400" y="87058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272" y="142557"/>
                </a:moveTo>
                <a:lnTo>
                  <a:pt x="0" y="71272"/>
                </a:lnTo>
                <a:lnTo>
                  <a:pt x="71272" y="0"/>
                </a:lnTo>
                <a:lnTo>
                  <a:pt x="142557" y="71272"/>
                </a:lnTo>
                <a:lnTo>
                  <a:pt x="71272" y="142557"/>
                </a:lnTo>
                <a:close/>
              </a:path>
            </a:pathLst>
          </a:custGeom>
          <a:solidFill>
            <a:srgbClr val="A88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00654" y="2030095"/>
            <a:ext cx="2158365" cy="11430"/>
          </a:xfrm>
          <a:custGeom>
            <a:avLst/>
            <a:gdLst/>
            <a:ahLst/>
            <a:cxnLst/>
            <a:rect l="l" t="t" r="r" b="b"/>
            <a:pathLst>
              <a:path w="2158365" h="11430">
                <a:moveTo>
                  <a:pt x="2158250" y="11429"/>
                </a:moveTo>
                <a:lnTo>
                  <a:pt x="0" y="11429"/>
                </a:lnTo>
                <a:lnTo>
                  <a:pt x="0" y="0"/>
                </a:lnTo>
                <a:lnTo>
                  <a:pt x="2158250" y="0"/>
                </a:lnTo>
                <a:lnTo>
                  <a:pt x="2158250" y="11429"/>
                </a:lnTo>
                <a:close/>
              </a:path>
            </a:pathLst>
          </a:custGeom>
          <a:solidFill>
            <a:srgbClr val="A88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54679" y="8964294"/>
            <a:ext cx="1249680" cy="7620"/>
          </a:xfrm>
          <a:custGeom>
            <a:avLst/>
            <a:gdLst/>
            <a:ahLst/>
            <a:cxnLst/>
            <a:rect l="l" t="t" r="r" b="b"/>
            <a:pathLst>
              <a:path w="1249679" h="7620">
                <a:moveTo>
                  <a:pt x="1249514" y="7620"/>
                </a:moveTo>
                <a:lnTo>
                  <a:pt x="0" y="7620"/>
                </a:lnTo>
                <a:lnTo>
                  <a:pt x="0" y="0"/>
                </a:lnTo>
                <a:lnTo>
                  <a:pt x="1249514" y="0"/>
                </a:lnTo>
                <a:lnTo>
                  <a:pt x="1249514" y="7620"/>
                </a:lnTo>
                <a:close/>
              </a:path>
            </a:pathLst>
          </a:custGeom>
          <a:solidFill>
            <a:srgbClr val="796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2055" y="579234"/>
            <a:ext cx="1900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Hanna</a:t>
            </a:r>
            <a:r>
              <a:rPr dirty="0" sz="1200" spc="-5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Abu</a:t>
            </a:r>
            <a:r>
              <a:rPr dirty="0" sz="1200" spc="-25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—</a:t>
            </a:r>
            <a:r>
              <a:rPr dirty="0" sz="1200" spc="-3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In</a:t>
            </a:r>
            <a:r>
              <a:rPr dirty="0" sz="1200" spc="-4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6B2536"/>
                </a:solidFill>
                <a:latin typeface="Times New Roman"/>
                <a:cs typeface="Times New Roman"/>
              </a:rPr>
              <a:t>Memoriam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—</a:t>
            </a:r>
            <a:r>
              <a:rPr dirty="0" spc="-50"/>
              <a:t> </a:t>
            </a:r>
            <a:fld id="{81D60167-4931-47E6-BA6A-407CBD079E47}" type="slidenum">
              <a:rPr dirty="0"/>
              <a:t>2</a:t>
            </a:fld>
            <a:r>
              <a:rPr dirty="0" spc="-40"/>
              <a:t> </a:t>
            </a:r>
            <a:r>
              <a:rPr dirty="0" spc="-50"/>
              <a:t>—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52679" y="579234"/>
            <a:ext cx="4845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796D66"/>
                </a:solidFill>
                <a:latin typeface="Times New Roman"/>
                <a:cs typeface="Times New Roman"/>
              </a:rPr>
              <a:t>English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3360" y="1150734"/>
            <a:ext cx="2061210" cy="4826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Short</a:t>
            </a:r>
            <a:r>
              <a:rPr dirty="0" sz="1200" spc="-45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Biography</a:t>
            </a:r>
            <a:r>
              <a:rPr dirty="0" sz="1200" spc="-5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of</a:t>
            </a:r>
            <a:r>
              <a:rPr dirty="0" sz="1200" spc="-3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Hanna</a:t>
            </a:r>
            <a:r>
              <a:rPr dirty="0" sz="1200" spc="-35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spc="-25" b="1">
                <a:solidFill>
                  <a:srgbClr val="6B2536"/>
                </a:solidFill>
                <a:latin typeface="Times New Roman"/>
                <a:cs typeface="Times New Roman"/>
              </a:rPr>
              <a:t>Abu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1200" i="1">
                <a:solidFill>
                  <a:srgbClr val="796D66"/>
                </a:solidFill>
                <a:latin typeface="Times New Roman"/>
                <a:cs typeface="Times New Roman"/>
              </a:rPr>
              <a:t>In</a:t>
            </a:r>
            <a:r>
              <a:rPr dirty="0" sz="1200" spc="-50" i="1">
                <a:solidFill>
                  <a:srgbClr val="796D66"/>
                </a:solidFill>
                <a:latin typeface="Times New Roman"/>
                <a:cs typeface="Times New Roman"/>
              </a:rPr>
              <a:t> </a:t>
            </a:r>
            <a:r>
              <a:rPr dirty="0" sz="1200" spc="-10" i="1">
                <a:solidFill>
                  <a:srgbClr val="796D66"/>
                </a:solidFill>
                <a:latin typeface="Times New Roman"/>
                <a:cs typeface="Times New Roman"/>
              </a:rPr>
              <a:t>Memoriam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608" y="2280031"/>
            <a:ext cx="5615940" cy="6345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1460">
              <a:lnSpc>
                <a:spcPct val="110800"/>
              </a:lnSpc>
              <a:spcBef>
                <a:spcPts val="100"/>
              </a:spcBef>
            </a:pP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Hanna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Abu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was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born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from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Ato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Abu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Boki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and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W/ro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Ayyu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Gemechu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in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1996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E.C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in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the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Ada Qoshe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area,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in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Munesa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Woreda.</a:t>
            </a:r>
            <a:endParaRPr sz="1200">
              <a:latin typeface="Times New Roman"/>
              <a:cs typeface="Times New Roman"/>
            </a:endParaRPr>
          </a:p>
          <a:p>
            <a:pPr marL="12700" marR="614680">
              <a:lnSpc>
                <a:spcPct val="110800"/>
              </a:lnSpc>
              <a:spcBef>
                <a:spcPts val="685"/>
              </a:spcBef>
            </a:pP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During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childhood,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like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many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rural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children,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grew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up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with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love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and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joy,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playing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together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with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family and</a:t>
            </a:r>
            <a:r>
              <a:rPr dirty="0" sz="1200" spc="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neighbors.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solidFill>
                  <a:srgbClr val="6B2536"/>
                </a:solidFill>
                <a:latin typeface="Times New Roman"/>
                <a:cs typeface="Times New Roman"/>
              </a:rPr>
              <a:t>Education</a:t>
            </a:r>
            <a:endParaRPr sz="1200">
              <a:latin typeface="Times New Roman"/>
              <a:cs typeface="Times New Roman"/>
            </a:endParaRPr>
          </a:p>
          <a:p>
            <a:pPr marL="12700" marR="160020">
              <a:lnSpc>
                <a:spcPct val="110000"/>
              </a:lnSpc>
              <a:spcBef>
                <a:spcPts val="300"/>
              </a:spcBef>
            </a:pP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Hanna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began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in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2002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E.C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at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Munesa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Primary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School,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starting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from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Grade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1.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She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completed</a:t>
            </a:r>
            <a:r>
              <a:rPr dirty="0" sz="1200" spc="-9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studies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there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up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to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Grade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8.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7640">
              <a:lnSpc>
                <a:spcPct val="110800"/>
              </a:lnSpc>
              <a:spcBef>
                <a:spcPts val="5"/>
              </a:spcBef>
            </a:pP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After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that,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80">
                <a:solidFill>
                  <a:srgbClr val="2A221F"/>
                </a:solidFill>
                <a:latin typeface="Times New Roman"/>
                <a:cs typeface="Times New Roman"/>
              </a:rPr>
              <a:t>moved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to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the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town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of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Qarsa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and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continued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secondary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education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from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Grade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80">
                <a:solidFill>
                  <a:srgbClr val="2A221F"/>
                </a:solidFill>
                <a:latin typeface="Times New Roman"/>
                <a:cs typeface="Times New Roman"/>
              </a:rPr>
              <a:t>9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to 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Grade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12</a:t>
            </a:r>
            <a:r>
              <a:rPr dirty="0" sz="1200" spc="3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at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Qarsa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Secondary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School.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96520">
              <a:lnSpc>
                <a:spcPct val="110400"/>
              </a:lnSpc>
            </a:pP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Since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did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not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achieve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the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result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hoped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for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in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Grade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12,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moved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to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Asella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and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joined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Chilalo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College,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where</a:t>
            </a:r>
            <a:r>
              <a:rPr dirty="0" sz="1200" spc="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studied</a:t>
            </a:r>
            <a:r>
              <a:rPr dirty="0" sz="1200" spc="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Laboratory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Technology.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80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successfully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completed</a:t>
            </a:r>
            <a:r>
              <a:rPr dirty="0" sz="1200" spc="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studies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and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graduated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on</a:t>
            </a:r>
            <a:r>
              <a:rPr dirty="0" sz="1200" spc="229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May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30,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2018,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a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day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that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brought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great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joy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to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and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family.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Challenges</a:t>
            </a:r>
            <a:r>
              <a:rPr dirty="0" sz="1200" spc="-5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in</a:t>
            </a:r>
            <a:r>
              <a:rPr dirty="0" sz="1200" spc="-6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Her</a:t>
            </a:r>
            <a:r>
              <a:rPr dirty="0" sz="1200" spc="-45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spc="-20" b="1">
                <a:solidFill>
                  <a:srgbClr val="6B2536"/>
                </a:solidFill>
                <a:latin typeface="Times New Roman"/>
                <a:cs typeface="Times New Roman"/>
              </a:rPr>
              <a:t>Life</a:t>
            </a:r>
            <a:endParaRPr sz="1200">
              <a:latin typeface="Times New Roman"/>
              <a:cs typeface="Times New Roman"/>
            </a:endParaRPr>
          </a:p>
          <a:p>
            <a:pPr marL="12700" marR="52069">
              <a:lnSpc>
                <a:spcPct val="110000"/>
              </a:lnSpc>
              <a:spcBef>
                <a:spcPts val="300"/>
              </a:spcBef>
            </a:pP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Hanna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went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through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many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difficult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times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in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life.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In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particular,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during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2013–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2014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E.C,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her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father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was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seriously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ill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and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stayed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in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the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hospital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for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a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year.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During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this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period,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faced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many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hardships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but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endured</a:t>
            </a:r>
            <a:r>
              <a:rPr dirty="0" sz="1200" spc="1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them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with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strength.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Her</a:t>
            </a:r>
            <a:r>
              <a:rPr dirty="0" sz="1200" spc="-6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6B2536"/>
                </a:solidFill>
                <a:latin typeface="Times New Roman"/>
                <a:cs typeface="Times New Roman"/>
              </a:rPr>
              <a:t>Death</a:t>
            </a:r>
            <a:endParaRPr sz="1200">
              <a:latin typeface="Times New Roman"/>
              <a:cs typeface="Times New Roman"/>
            </a:endParaRPr>
          </a:p>
          <a:p>
            <a:pPr marL="12700" marR="184785">
              <a:lnSpc>
                <a:spcPct val="110000"/>
              </a:lnSpc>
              <a:spcBef>
                <a:spcPts val="300"/>
              </a:spcBef>
            </a:pP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After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completing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education,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was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preparing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for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Certificate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of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Competency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(COC).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However,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due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to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severe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life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pressures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and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stress,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tragically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lost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life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by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suicide.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Hanna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passed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away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on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July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25,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2018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at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the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age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of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22.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6B2536"/>
                </a:solidFill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400"/>
              </a:lnSpc>
              <a:spcBef>
                <a:spcPts val="280"/>
              </a:spcBef>
            </a:pP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Hanna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Abu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was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a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strong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and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resilient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person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who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faced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many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challenges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throughout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her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life.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Her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story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teaches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the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importance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80">
                <a:solidFill>
                  <a:srgbClr val="2A221F"/>
                </a:solidFill>
                <a:latin typeface="Times New Roman"/>
                <a:cs typeface="Times New Roman"/>
              </a:rPr>
              <a:t>of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perseverance,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hard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work,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80">
                <a:solidFill>
                  <a:srgbClr val="2A221F"/>
                </a:solidFill>
                <a:latin typeface="Times New Roman"/>
                <a:cs typeface="Times New Roman"/>
              </a:rPr>
              <a:t>and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education.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In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the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end,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however,</a:t>
            </a:r>
            <a:r>
              <a:rPr dirty="0" sz="1200" spc="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was 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overcome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by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the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difficulties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she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faced.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08400" y="87058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272" y="142557"/>
                </a:moveTo>
                <a:lnTo>
                  <a:pt x="0" y="71272"/>
                </a:lnTo>
                <a:lnTo>
                  <a:pt x="71272" y="0"/>
                </a:lnTo>
                <a:lnTo>
                  <a:pt x="142557" y="71272"/>
                </a:lnTo>
                <a:lnTo>
                  <a:pt x="71272" y="142557"/>
                </a:lnTo>
                <a:close/>
              </a:path>
            </a:pathLst>
          </a:custGeom>
          <a:solidFill>
            <a:srgbClr val="A88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00654" y="2232660"/>
            <a:ext cx="2158365" cy="11430"/>
          </a:xfrm>
          <a:custGeom>
            <a:avLst/>
            <a:gdLst/>
            <a:ahLst/>
            <a:cxnLst/>
            <a:rect l="l" t="t" r="r" b="b"/>
            <a:pathLst>
              <a:path w="2158365" h="11430">
                <a:moveTo>
                  <a:pt x="2158250" y="11430"/>
                </a:moveTo>
                <a:lnTo>
                  <a:pt x="0" y="11430"/>
                </a:lnTo>
                <a:lnTo>
                  <a:pt x="0" y="0"/>
                </a:lnTo>
                <a:lnTo>
                  <a:pt x="2158250" y="0"/>
                </a:lnTo>
                <a:lnTo>
                  <a:pt x="2158250" y="11430"/>
                </a:lnTo>
                <a:close/>
              </a:path>
            </a:pathLst>
          </a:custGeom>
          <a:solidFill>
            <a:srgbClr val="A88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54679" y="9368790"/>
            <a:ext cx="1249680" cy="7620"/>
          </a:xfrm>
          <a:custGeom>
            <a:avLst/>
            <a:gdLst/>
            <a:ahLst/>
            <a:cxnLst/>
            <a:rect l="l" t="t" r="r" b="b"/>
            <a:pathLst>
              <a:path w="1249679" h="7620">
                <a:moveTo>
                  <a:pt x="1249514" y="7620"/>
                </a:moveTo>
                <a:lnTo>
                  <a:pt x="0" y="7620"/>
                </a:lnTo>
                <a:lnTo>
                  <a:pt x="0" y="0"/>
                </a:lnTo>
                <a:lnTo>
                  <a:pt x="1249514" y="0"/>
                </a:lnTo>
                <a:lnTo>
                  <a:pt x="1249514" y="7620"/>
                </a:lnTo>
                <a:close/>
              </a:path>
            </a:pathLst>
          </a:custGeom>
          <a:solidFill>
            <a:srgbClr val="796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3359" y="579234"/>
            <a:ext cx="1590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Seenaa</a:t>
            </a:r>
            <a:r>
              <a:rPr dirty="0" sz="1200" spc="-5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Haannaa</a:t>
            </a:r>
            <a:r>
              <a:rPr dirty="0" sz="1200" spc="-6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spc="-20" b="1">
                <a:solidFill>
                  <a:srgbClr val="6B2536"/>
                </a:solidFill>
                <a:latin typeface="Times New Roman"/>
                <a:cs typeface="Times New Roman"/>
              </a:rPr>
              <a:t>Abbuu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—</a:t>
            </a:r>
            <a:r>
              <a:rPr dirty="0" spc="-50"/>
              <a:t> </a:t>
            </a:r>
            <a:fld id="{81D60167-4931-47E6-BA6A-407CBD079E47}" type="slidenum">
              <a:rPr dirty="0"/>
              <a:t>2</a:t>
            </a:fld>
            <a:r>
              <a:rPr dirty="0" spc="-40"/>
              <a:t> </a:t>
            </a:r>
            <a:r>
              <a:rPr dirty="0" spc="-50"/>
              <a:t>—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40159" y="579234"/>
            <a:ext cx="1473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796D66"/>
                </a:solidFill>
                <a:latin typeface="Times New Roman"/>
                <a:cs typeface="Times New Roman"/>
              </a:rPr>
              <a:t>Afaan</a:t>
            </a:r>
            <a:r>
              <a:rPr dirty="0" sz="1200" spc="-25" i="1">
                <a:solidFill>
                  <a:srgbClr val="796D66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796D66"/>
                </a:solidFill>
                <a:latin typeface="Times New Roman"/>
                <a:cs typeface="Times New Roman"/>
              </a:rPr>
              <a:t>Oromoo</a:t>
            </a:r>
            <a:r>
              <a:rPr dirty="0" sz="1200" spc="-25" i="1">
                <a:solidFill>
                  <a:srgbClr val="796D66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796D66"/>
                </a:solidFill>
                <a:latin typeface="Times New Roman"/>
                <a:cs typeface="Times New Roman"/>
              </a:rPr>
              <a:t>·</a:t>
            </a:r>
            <a:r>
              <a:rPr dirty="0" sz="1200" spc="-25" i="1">
                <a:solidFill>
                  <a:srgbClr val="796D66"/>
                </a:solidFill>
                <a:latin typeface="Times New Roman"/>
                <a:cs typeface="Times New Roman"/>
              </a:rPr>
              <a:t> </a:t>
            </a:r>
            <a:r>
              <a:rPr dirty="0" sz="1200" spc="-20" i="1">
                <a:solidFill>
                  <a:srgbClr val="796D66"/>
                </a:solidFill>
                <a:latin typeface="Times New Roman"/>
                <a:cs typeface="Times New Roman"/>
              </a:rPr>
              <a:t>Oromo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0583" y="1353438"/>
            <a:ext cx="2285365" cy="4826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1200" spc="-10" b="1">
                <a:solidFill>
                  <a:srgbClr val="6B2536"/>
                </a:solidFill>
                <a:latin typeface="Times New Roman"/>
                <a:cs typeface="Times New Roman"/>
              </a:rPr>
              <a:t>Seenaa</a:t>
            </a:r>
            <a:r>
              <a:rPr dirty="0" sz="1200" spc="-6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Gabaabaa</a:t>
            </a:r>
            <a:r>
              <a:rPr dirty="0" sz="1200" spc="-5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Haannaa</a:t>
            </a:r>
            <a:r>
              <a:rPr dirty="0" sz="1200" spc="-5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6B2536"/>
                </a:solidFill>
                <a:latin typeface="Times New Roman"/>
                <a:cs typeface="Times New Roman"/>
              </a:rPr>
              <a:t>Abbuu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1200" spc="-10" i="1">
                <a:solidFill>
                  <a:srgbClr val="796D66"/>
                </a:solidFill>
                <a:latin typeface="Times New Roman"/>
                <a:cs typeface="Times New Roman"/>
              </a:rPr>
              <a:t>(Biyograafii)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608" y="2482735"/>
            <a:ext cx="5697220" cy="6546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350">
              <a:lnSpc>
                <a:spcPct val="110800"/>
              </a:lnSpc>
              <a:spcBef>
                <a:spcPts val="100"/>
              </a:spcBef>
            </a:pP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Haannaan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Abbuu 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maatii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obbo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Abbuu Bokii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fi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aadde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Ayyuu 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Gammachuu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irraa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dhalatte.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Isheen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bara 1996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A.L.I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naannoo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Aaddaa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Qoshee,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ganda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Muuneessa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keessatti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dhalatte.</a:t>
            </a:r>
            <a:endParaRPr sz="1200">
              <a:latin typeface="Times New Roman"/>
              <a:cs typeface="Times New Roman"/>
            </a:endParaRPr>
          </a:p>
          <a:p>
            <a:pPr marL="12700" marR="515620">
              <a:lnSpc>
                <a:spcPct val="110800"/>
              </a:lnSpc>
              <a:spcBef>
                <a:spcPts val="685"/>
              </a:spcBef>
            </a:pP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Yeroo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ijoollummaashee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keessatti,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akkuma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daa'imman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baadiyyaa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biroo,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taphaa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fi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jaalalaan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maatii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fi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ollaa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ishee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waliin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guddachaa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turte.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6B2536"/>
                </a:solidFill>
                <a:latin typeface="Times New Roman"/>
                <a:cs typeface="Times New Roman"/>
              </a:rPr>
              <a:t>Barnoota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6B2536"/>
                </a:solidFill>
                <a:latin typeface="Times New Roman"/>
                <a:cs typeface="Times New Roman"/>
              </a:rPr>
              <a:t>Ishee</a:t>
            </a:r>
            <a:endParaRPr sz="1200">
              <a:latin typeface="Times New Roman"/>
              <a:cs typeface="Times New Roman"/>
            </a:endParaRPr>
          </a:p>
          <a:p>
            <a:pPr marL="12700" marR="286385">
              <a:lnSpc>
                <a:spcPct val="110000"/>
              </a:lnSpc>
              <a:spcBef>
                <a:spcPts val="310"/>
              </a:spcBef>
            </a:pP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Barnoota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idilee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ishee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bara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2002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A.L.I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kutaa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1ffaa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Mana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Barumsaa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Muuneessa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Sadarkaa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1ffaa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keessatti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jalqabde.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Achumatti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hanga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kutaa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8ffaa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xumurtee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itti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fufte.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71780">
              <a:lnSpc>
                <a:spcPct val="110000"/>
              </a:lnSpc>
            </a:pP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Erga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kutaa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8ffaa</a:t>
            </a:r>
            <a:r>
              <a:rPr dirty="0" sz="1200" spc="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xumurtee</a:t>
            </a:r>
            <a:r>
              <a:rPr dirty="0" sz="1200" spc="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booda,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gara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magaalaa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Qarsaa</a:t>
            </a:r>
            <a:r>
              <a:rPr dirty="0" sz="1200" spc="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80">
                <a:solidFill>
                  <a:srgbClr val="2A221F"/>
                </a:solidFill>
                <a:latin typeface="Times New Roman"/>
                <a:cs typeface="Times New Roman"/>
              </a:rPr>
              <a:t>deemuun</a:t>
            </a:r>
            <a:r>
              <a:rPr dirty="0" sz="1200" spc="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kutaa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9ffaa</a:t>
            </a:r>
            <a:r>
              <a:rPr dirty="0" sz="1200" spc="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85">
                <a:solidFill>
                  <a:srgbClr val="2A221F"/>
                </a:solidFill>
                <a:latin typeface="Times New Roman"/>
                <a:cs typeface="Times New Roman"/>
              </a:rPr>
              <a:t>Mana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Barumsaa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Qarsaa</a:t>
            </a:r>
            <a:r>
              <a:rPr dirty="0" sz="1200" spc="2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Sadarkaa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2ffaa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seentee,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barnoota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sadarkaa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lammaffaa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ishee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achumatti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xumurtee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jirti.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10300"/>
              </a:lnSpc>
            </a:pP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Kutaa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12ffaa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keessatti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garuu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milkaa'ina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barbaachisaa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argachuu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hin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dandeenye.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Kanaaf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gara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magaalaa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Asallaa</a:t>
            </a:r>
            <a:r>
              <a:rPr dirty="0" sz="1200" spc="105">
                <a:solidFill>
                  <a:srgbClr val="2A221F"/>
                </a:solidFill>
                <a:latin typeface="Times New Roman"/>
                <a:cs typeface="Times New Roman"/>
              </a:rPr>
              <a:t> 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deemuun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Kolleejjii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Cilaloo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keessatti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barnoota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'Laboratory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Technology'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baratte.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Barnoota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ishee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milkaa'inaan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xumurtee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guyyaa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30/05/2018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eebbifamte.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Guyyaan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sun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ishee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fi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maatii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isheeaf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gammachuu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guddaa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fide.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Jireenya</a:t>
            </a:r>
            <a:r>
              <a:rPr dirty="0" sz="1200" spc="-4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Ishee</a:t>
            </a:r>
            <a:r>
              <a:rPr dirty="0" sz="1200" spc="-40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Keessatti</a:t>
            </a:r>
            <a:r>
              <a:rPr dirty="0" sz="1200" spc="-25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6B2536"/>
                </a:solidFill>
                <a:latin typeface="Times New Roman"/>
                <a:cs typeface="Times New Roman"/>
              </a:rPr>
              <a:t>Rakkoo</a:t>
            </a:r>
            <a:endParaRPr sz="1200">
              <a:latin typeface="Times New Roman"/>
              <a:cs typeface="Times New Roman"/>
            </a:endParaRPr>
          </a:p>
          <a:p>
            <a:pPr marL="12700" marR="84455">
              <a:lnSpc>
                <a:spcPct val="110400"/>
              </a:lnSpc>
              <a:spcBef>
                <a:spcPts val="295"/>
              </a:spcBef>
            </a:pP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Haannaan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jireenya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ishee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keessatti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yeroo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rakkisaa</a:t>
            </a:r>
            <a:r>
              <a:rPr dirty="0" sz="1200" spc="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hedduu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dabarsite.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Addatti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bara</a:t>
            </a:r>
            <a:r>
              <a:rPr dirty="0" sz="1200" spc="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2013–2014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keessatti,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abban</a:t>
            </a:r>
            <a:r>
              <a:rPr dirty="0" sz="1200" spc="49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ishee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dhukkubaan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waggaa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tokkoof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mana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yaalaa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keessatti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yaalamaa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ture.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Yeroo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sanas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rakkoon</a:t>
            </a:r>
            <a:r>
              <a:rPr dirty="0" sz="1200" spc="-8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guddaan</a:t>
            </a: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A221F"/>
                </a:solidFill>
                <a:latin typeface="Times New Roman"/>
                <a:cs typeface="Times New Roman"/>
              </a:rPr>
              <a:t>jiraatus, obsaan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dabarsite.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6B2536"/>
                </a:solidFill>
                <a:latin typeface="Times New Roman"/>
                <a:cs typeface="Times New Roman"/>
              </a:rPr>
              <a:t>Boqonnaa</a:t>
            </a:r>
            <a:r>
              <a:rPr dirty="0" sz="1200" spc="-35" b="1">
                <a:solidFill>
                  <a:srgbClr val="6B2536"/>
                </a:solidFill>
                <a:latin typeface="Times New Roman"/>
                <a:cs typeface="Times New Roman"/>
              </a:rPr>
              <a:t> </a:t>
            </a:r>
            <a:r>
              <a:rPr dirty="0" sz="1200" spc="-20" b="1">
                <a:solidFill>
                  <a:srgbClr val="6B2536"/>
                </a:solidFill>
                <a:latin typeface="Times New Roman"/>
                <a:cs typeface="Times New Roman"/>
              </a:rPr>
              <a:t>Ishee</a:t>
            </a:r>
            <a:endParaRPr sz="1200">
              <a:latin typeface="Times New Roman"/>
              <a:cs typeface="Times New Roman"/>
            </a:endParaRPr>
          </a:p>
          <a:p>
            <a:pPr marL="12700" marR="213995">
              <a:lnSpc>
                <a:spcPct val="110000"/>
              </a:lnSpc>
              <a:spcBef>
                <a:spcPts val="300"/>
              </a:spcBef>
            </a:pP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Erga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barnoota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ishee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xumurtee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booda,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qophii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hojii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(COC)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gochaa turte.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Haa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ta'u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malee,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rakkoon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jireenyaa 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fi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dhiphinni</a:t>
            </a:r>
            <a:r>
              <a:rPr dirty="0" sz="1200" spc="-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guddaan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ishee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mudatee,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lubbuu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ishee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akka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dhabdu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taasise.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Haannaan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guyyaa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25/07/2018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du'uun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addunyaa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kana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irraa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boqotte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(Self</a:t>
            </a:r>
            <a:r>
              <a:rPr dirty="0" sz="1200" spc="-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suicide).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6B2536"/>
                </a:solidFill>
                <a:latin typeface="Times New Roman"/>
                <a:cs typeface="Times New Roman"/>
              </a:rPr>
              <a:t>Xumura</a:t>
            </a:r>
            <a:endParaRPr sz="1200">
              <a:latin typeface="Times New Roman"/>
              <a:cs typeface="Times New Roman"/>
            </a:endParaRPr>
          </a:p>
          <a:p>
            <a:pPr algn="just" marL="12700" marR="361950">
              <a:lnSpc>
                <a:spcPct val="110000"/>
              </a:lnSpc>
              <a:spcBef>
                <a:spcPts val="300"/>
              </a:spcBef>
            </a:pPr>
            <a:r>
              <a:rPr dirty="0" sz="1200" spc="-75">
                <a:solidFill>
                  <a:srgbClr val="2A221F"/>
                </a:solidFill>
                <a:latin typeface="Times New Roman"/>
                <a:cs typeface="Times New Roman"/>
              </a:rPr>
              <a:t>Haannaan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80">
                <a:solidFill>
                  <a:srgbClr val="2A221F"/>
                </a:solidFill>
                <a:latin typeface="Times New Roman"/>
                <a:cs typeface="Times New Roman"/>
              </a:rPr>
              <a:t>Abbuu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80">
                <a:solidFill>
                  <a:srgbClr val="2A221F"/>
                </a:solidFill>
                <a:latin typeface="Times New Roman"/>
                <a:cs typeface="Times New Roman"/>
              </a:rPr>
              <a:t>nama</a:t>
            </a:r>
            <a:r>
              <a:rPr dirty="0" sz="1200" spc="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jabaa,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obsaa</a:t>
            </a:r>
            <a:r>
              <a:rPr dirty="0" sz="1200" spc="2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2A221F"/>
                </a:solidFill>
                <a:latin typeface="Times New Roman"/>
                <a:cs typeface="Times New Roman"/>
              </a:rPr>
              <a:t>fi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5">
                <a:solidFill>
                  <a:srgbClr val="2A221F"/>
                </a:solidFill>
                <a:latin typeface="Times New Roman"/>
                <a:cs typeface="Times New Roman"/>
              </a:rPr>
              <a:t>jireenya</a:t>
            </a:r>
            <a:r>
              <a:rPr dirty="0" sz="1200" spc="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keessatti</a:t>
            </a:r>
            <a:r>
              <a:rPr dirty="0" sz="1200" spc="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rakkina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70">
                <a:solidFill>
                  <a:srgbClr val="2A221F"/>
                </a:solidFill>
                <a:latin typeface="Times New Roman"/>
                <a:cs typeface="Times New Roman"/>
              </a:rPr>
              <a:t>hedduu</a:t>
            </a:r>
            <a:r>
              <a:rPr dirty="0" sz="1200" spc="2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60">
                <a:solidFill>
                  <a:srgbClr val="2A221F"/>
                </a:solidFill>
                <a:latin typeface="Times New Roman"/>
                <a:cs typeface="Times New Roman"/>
              </a:rPr>
              <a:t>dabarsitee</a:t>
            </a:r>
            <a:r>
              <a:rPr dirty="0" sz="1200" spc="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55">
                <a:solidFill>
                  <a:srgbClr val="2A221F"/>
                </a:solidFill>
                <a:latin typeface="Times New Roman"/>
                <a:cs typeface="Times New Roman"/>
              </a:rPr>
              <a:t>turte.</a:t>
            </a:r>
            <a:r>
              <a:rPr dirty="0" sz="1200" spc="1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2A221F"/>
                </a:solidFill>
                <a:latin typeface="Times New Roman"/>
                <a:cs typeface="Times New Roman"/>
              </a:rPr>
              <a:t>Seenaa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ishee</a:t>
            </a:r>
            <a:r>
              <a:rPr dirty="0" sz="1200" spc="15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keessatti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barnootni,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obsaan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jiraachuun,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fi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tattaaffiin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gatii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guddaa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akka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 qabu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30">
                <a:solidFill>
                  <a:srgbClr val="2A221F"/>
                </a:solidFill>
                <a:latin typeface="Times New Roman"/>
                <a:cs typeface="Times New Roman"/>
              </a:rPr>
              <a:t>nu</a:t>
            </a:r>
            <a:r>
              <a:rPr dirty="0" sz="1200" spc="-4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barsiisa, </a:t>
            </a:r>
            <a:r>
              <a:rPr dirty="0" sz="1200" spc="-35">
                <a:solidFill>
                  <a:srgbClr val="2A221F"/>
                </a:solidFill>
                <a:latin typeface="Times New Roman"/>
                <a:cs typeface="Times New Roman"/>
              </a:rPr>
              <a:t>xumura </a:t>
            </a:r>
            <a:r>
              <a:rPr dirty="0" sz="1200" spc="-40">
                <a:solidFill>
                  <a:srgbClr val="2A221F"/>
                </a:solidFill>
                <a:latin typeface="Times New Roman"/>
                <a:cs typeface="Times New Roman"/>
              </a:rPr>
              <a:t>irratti</a:t>
            </a:r>
            <a:r>
              <a:rPr dirty="0" sz="1200" spc="-15">
                <a:solidFill>
                  <a:srgbClr val="2A22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2A221F"/>
                </a:solidFill>
                <a:latin typeface="Times New Roman"/>
                <a:cs typeface="Times New Roman"/>
              </a:rPr>
              <a:t>moo'amtus.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(anonymous)</dc:creator>
  <dc:description/>
  <dc:subject>(unspecified)</dc:subject>
  <dc:title>(anonymous)</dc:title>
  <dcterms:created xsi:type="dcterms:W3CDTF">2026-08-02T12:15:07Z</dcterms:created>
  <dcterms:modified xsi:type="dcterms:W3CDTF">2026-08-02T12:15:07Z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2026-08-02T00:00:00Z</vt:filetime>
  </property>
  <property fmtid="{D5CDD505-2E9C-101B-9397-08002B2CF9AE}" pid="4" name="Creator">
    <vt:lpwstr>WPS Writer</vt:lpwstr>
  </property>
  <property fmtid="{D5CDD505-2E9C-101B-9397-08002B2CF9AE}" pid="5" name="LastSaved">
    <vt:filetime>2026-08-02T00:00:00Z</vt:filetime>
  </property>
  <property fmtid="{D5CDD505-2E9C-101B-9397-08002B2CF9AE}" pid="6" name="SourceModified">
    <vt:lpwstr>D:20260802151341+03'00'</vt:lpwstr>
  </property>
</Properties>
</file>